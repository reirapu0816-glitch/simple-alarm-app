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Dメンターチームのラポール形成に関する壁打ちまとめ。課題・試作・カンファレンス設計を網羅したスライドです。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ラポールの重要性を構造として理解してもらうスライド。「なんとなく大事」ではなく「なくてはメンタリングが機能しない」という論理を伝える。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課題を3レベルに分解。意識・スキル・構造のどの層の問題かを把握することが改善の出発点。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12タイプ分類。受講生のパターンを共通言語化することで、チームでの見立てと共有が可能になる。青枠のタイプはNotionに専用ページあり。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背景軸は12タイプとは別の「難しさの次元」。組み合わせで対応が変わる。ラポール3段階でメンター自身が現在地を把握する。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これまでに行った施策の一覧。ステータスで完了・進行中・準備中を区別。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9/4カンファレンス全体概要。テーマは"See Deeper"。メンターが自分のパターンと受講生の実態の両方を「一歩深く見る」時間。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Part1は自分のメンタリングを「外から見る」時間。評価でなく観察の姿勢が重要。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Part2は「6ヶ月を見た上での1ヶ月」という視点を得る時間。受講生はまだ6ヶ月を終えていない。だからこそユーザーが全体像を見せることに意味がある。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今後のToDo一覧と育成哲学のまとめ。正しい答えを覚えるより気づける目を育てることが9月のゴール。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D6A8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560320"/>
            <a:ext cx="2011680" cy="2011680"/>
          </a:xfrm>
          <a:prstGeom prst="ellipse">
            <a:avLst/>
          </a:prstGeom>
          <a:solidFill>
            <a:srgbClr val="C8762A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Dメンターチーム 壁打ちまとめ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ラポール形成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5B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課題・試作・改善の全体整理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9月のメンター育成テーマ「受講生の世界に下りていく力」に向けた壁打ちまとめ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2026年9月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60604"/>
            <a:ext cx="109728" cy="109728"/>
          </a:xfrm>
          <a:prstGeom prst="ellipse">
            <a:avLst/>
          </a:prstGeom>
          <a:solidFill>
            <a:srgbClr val="2D6A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なぜ今ラポールが焦点なのか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solidFill>
            <a:srgbClr val="EBF4FA"/>
          </a:solidFill>
          <a:ln w="9525">
            <a:solidFill>
              <a:srgbClr val="2D6A8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80467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ラポールがないと受講生は本音を話さない。本音がないとボトルネックが見えない。見えないまま深掘りしても表面しか触れられない。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691640" cy="530352"/>
          </a:xfrm>
          <a:prstGeom prst="rect">
            <a:avLst/>
          </a:prstGeom>
          <a:solidFill>
            <a:srgbClr val="EBF4FA"/>
          </a:solidFill>
          <a:ln w="9525">
            <a:solidFill>
              <a:srgbClr val="2D6A8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1600200"/>
            <a:ext cx="1691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ラポールがある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1600200"/>
            <a:ext cx="228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7440" y="1600200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377440" y="1600200"/>
            <a:ext cx="1691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受講生が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本音を話す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600200"/>
            <a:ext cx="228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97680" y="1600200"/>
            <a:ext cx="1691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ボトルネックが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見える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1600200"/>
            <a:ext cx="228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1691640" cy="530352"/>
          </a:xfrm>
          <a:prstGeom prst="rect">
            <a:avLst/>
          </a:prstGeom>
          <a:solidFill>
            <a:srgbClr val="FDF3E7"/>
          </a:solidFill>
          <a:ln w="9525">
            <a:solidFill>
              <a:srgbClr val="C876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17920" y="1600200"/>
            <a:ext cx="1691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深掘り・設計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ができる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1691640" cy="530352"/>
          </a:xfrm>
          <a:prstGeom prst="rect">
            <a:avLst/>
          </a:prstGeom>
          <a:solidFill>
            <a:srgbClr val="FDEAEA"/>
          </a:solidFill>
          <a:ln w="9525">
            <a:solidFill>
              <a:srgbClr val="C0404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7200" y="2331720"/>
            <a:ext cx="1691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ラポールがない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2331720"/>
            <a:ext cx="228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377440" y="2331720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377440" y="2331720"/>
            <a:ext cx="1691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受講生が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開示しない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2331720"/>
            <a:ext cx="228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2331720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297680" y="2331720"/>
            <a:ext cx="1691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表面しか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見えない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2331720"/>
            <a:ext cx="228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2331720"/>
            <a:ext cx="1691640" cy="530352"/>
          </a:xfrm>
          <a:prstGeom prst="rect">
            <a:avLst/>
          </a:prstGeom>
          <a:solidFill>
            <a:srgbClr val="FDEAEA"/>
          </a:solidFill>
          <a:ln w="9525">
            <a:solidFill>
              <a:srgbClr val="C0404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217920" y="2331720"/>
            <a:ext cx="1691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的外れな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介入になる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10月のボトルネック特定フェーズは、9月のラポール力で精度が決まる。だから9月がラポール集中月。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243B52"/>
          </a:solidFill>
          <a:ln w="9525">
            <a:solidFill>
              <a:srgbClr val="1A2D3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40080" y="37307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ラポールがあって初めて受講生が本音を開示する。開示があって初めてメンターはその問題に踏み込める。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60604"/>
            <a:ext cx="109728" cy="109728"/>
          </a:xfrm>
          <a:prstGeom prst="ellipse">
            <a:avLst/>
          </a:prstGeom>
          <a:solidFill>
            <a:srgbClr val="C040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課題の全体像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624328" cy="411480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意識レベル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24328" cy="3611880"/>
          </a:xfrm>
          <a:prstGeom prst="rect">
            <a:avLst/>
          </a:prstGeom>
          <a:solidFill>
            <a:srgbClr val="FDEAEA"/>
          </a:solidFill>
          <a:ln w="9525">
            <a:solidFill>
              <a:srgbClr val="C0404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30352" y="1280160"/>
            <a:ext cx="2478024" cy="3520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「聞いているつもり」になりやすい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解決に先走り、受け止め切る前に進む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受講生役に回らないと気づけない視点がある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テンポが速いと威圧感を与えてしまう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滞在時間が短く、浅いまま次に進む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624328" cy="411480"/>
          </a:xfrm>
          <a:prstGeom prst="rect">
            <a:avLst/>
          </a:prstGeom>
          <a:solidFill>
            <a:srgbClr val="C8762A"/>
          </a:solidFill>
          <a:ln w="12700">
            <a:solidFill>
              <a:srgbClr val="C876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82296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スキルレベル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24328" cy="3611880"/>
          </a:xfrm>
          <a:prstGeom prst="rect">
            <a:avLst/>
          </a:prstGeom>
          <a:solidFill>
            <a:srgbClr val="FDF3E7"/>
          </a:solidFill>
          <a:ln w="9525">
            <a:solidFill>
              <a:srgbClr val="C876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19272" y="1280160"/>
            <a:ext cx="2478024" cy="3520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12タイプへの引き出しにメンター差がある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難しい背景設定での対応力が低い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ロープレ後の振り返りの質にバラつき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「受け止める」と「解決する」の境界が曖昧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自己開示を引き出すタイミングが不安定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822960"/>
            <a:ext cx="2624328" cy="411480"/>
          </a:xfrm>
          <a:prstGeom prst="rect">
            <a:avLst/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82296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構造レベル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24328" cy="3611880"/>
          </a:xfrm>
          <a:prstGeom prst="rect">
            <a:avLst/>
          </a:prstGeom>
          <a:solidFill>
            <a:srgbClr val="F0EBF8"/>
          </a:solidFill>
          <a:ln w="9525">
            <a:solidFill>
              <a:srgbClr val="6B4E9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08192" y="1280160"/>
            <a:ext cx="2478024" cy="3520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ナレッジがメンター個人に止まっている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ラポール3段階の自己認識がバラバラ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ロープレが「こなす」になりがちで経験が積み上がらない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タイプ×背景の組み合わせが未体系化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60604"/>
            <a:ext cx="109728" cy="109728"/>
          </a:xfrm>
          <a:prstGeom prst="ellipse">
            <a:avLst/>
          </a:prstGeom>
          <a:solidFill>
            <a:srgbClr val="3A7D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整理してきた枠組み①  ——  12タイプ分類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920240" cy="731520"/>
          </a:xfrm>
          <a:prstGeom prst="rect">
            <a:avLst/>
          </a:prstGeom>
          <a:solidFill>
            <a:srgbClr val="EBF4FA"/>
          </a:solidFill>
          <a:ln w="9525">
            <a:solidFill>
              <a:srgbClr val="2D6A8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30352" y="85953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完璧主義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17043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できない自分を認められない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822960"/>
            <a:ext cx="1920240" cy="731520"/>
          </a:xfrm>
          <a:prstGeom prst="rect">
            <a:avLst/>
          </a:prstGeom>
          <a:solidFill>
            <a:srgbClr val="EBF4FA"/>
          </a:solidFill>
          <a:ln w="9525">
            <a:solidFill>
              <a:srgbClr val="2D6A8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87752" y="85953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比較思考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87752" y="117043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他者と比べて自分を測る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731520"/>
          </a:xfrm>
          <a:prstGeom prst="rect">
            <a:avLst/>
          </a:prstGeom>
          <a:solidFill>
            <a:srgbClr val="EBF4FA"/>
          </a:solidFill>
          <a:ln w="9525">
            <a:solidFill>
              <a:srgbClr val="2D6A8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45152" y="85953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低自己評価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117043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自分の可能性を信じられない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822960"/>
            <a:ext cx="1920240" cy="731520"/>
          </a:xfrm>
          <a:prstGeom prst="rect">
            <a:avLst/>
          </a:prstGeom>
          <a:solidFill>
            <a:srgbClr val="EBF4FA"/>
          </a:solidFill>
          <a:ln w="9525">
            <a:solidFill>
              <a:srgbClr val="2D6A8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02552" y="85953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未来不安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02552" y="117043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先のことが怖くて動けない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664208"/>
            <a:ext cx="1920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0352" y="17007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過去思考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" y="201168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過去の失敗に引きずられる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1664208"/>
            <a:ext cx="1920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587752" y="17007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正解待ち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587752" y="201168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答えを外に求め続ける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664208"/>
            <a:ext cx="1920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645152" y="17007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自己価値=成果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645152" y="201168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結果が出ないと価値がない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1664208"/>
            <a:ext cx="1920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702552" y="17007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安全欲求強め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02552" y="201168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変化を極端に恐れる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505456"/>
            <a:ext cx="1920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30352" y="254203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行動先行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" y="285292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考えずに動いてしまう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14600" y="2505456"/>
            <a:ext cx="1920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2587752" y="254203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思考過多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587752" y="285292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考えすぎて動けない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2505456"/>
            <a:ext cx="1920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645152" y="254203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環境依存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645152" y="285292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環境を変えれば解決と思う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29400" y="2505456"/>
            <a:ext cx="1920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702552" y="254203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自己流固執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702552" y="285292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自分のやり方を変えたくない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青枠：Notionページ作成済み（ラポール引き出し集）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60604"/>
            <a:ext cx="109728" cy="109728"/>
          </a:xfrm>
          <a:prstGeom prst="ellipse">
            <a:avLst/>
          </a:prstGeom>
          <a:solidFill>
            <a:srgbClr val="3A7D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整理してきた枠組み②  ——  背景軸 &amp; ラポール3段階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8229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4つの背景軸（12タイプとは別次元）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143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同じ「完璧主義」でも「育児中」と「年上・経験豊富」では関わり方が変わる。タイプ×背景の組み合わせで判断する。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1737360" cy="347472"/>
          </a:xfrm>
          <a:prstGeom prst="rect">
            <a:avLst/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508760"/>
            <a:ext cx="1737360" cy="347472"/>
          </a:xfrm>
          <a:prstGeom prst="rect">
            <a:avLst/>
          </a:prstGeom>
          <a:solidFill>
            <a:srgbClr val="FDF3E7"/>
          </a:solidFill>
          <a:ln w="9525">
            <a:solidFill>
              <a:srgbClr val="EDD4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508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年上・経験豊富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508760"/>
            <a:ext cx="1737360" cy="347472"/>
          </a:xfrm>
          <a:prstGeom prst="rect">
            <a:avLst/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508760"/>
            <a:ext cx="1737360" cy="347472"/>
          </a:xfrm>
          <a:prstGeom prst="rect">
            <a:avLst/>
          </a:prstGeom>
          <a:solidFill>
            <a:srgbClr val="FDF3E7"/>
          </a:solidFill>
          <a:ln w="9525">
            <a:solidFill>
              <a:srgbClr val="EDD4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1508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育児中・時間制約あり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1508760"/>
            <a:ext cx="1737360" cy="347472"/>
          </a:xfrm>
          <a:prstGeom prst="rect">
            <a:avLst/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508760"/>
            <a:ext cx="1737360" cy="347472"/>
          </a:xfrm>
          <a:prstGeom prst="rect">
            <a:avLst/>
          </a:prstGeom>
          <a:solidFill>
            <a:srgbClr val="FDF3E7"/>
          </a:solidFill>
          <a:ln w="9525">
            <a:solidFill>
              <a:srgbClr val="EDD4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1508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メンタル不安が強い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1508760"/>
            <a:ext cx="1737360" cy="347472"/>
          </a:xfrm>
          <a:prstGeom prst="rect">
            <a:avLst/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508760"/>
            <a:ext cx="1737360" cy="347472"/>
          </a:xfrm>
          <a:prstGeom prst="rect">
            <a:avLst/>
          </a:prstGeom>
          <a:solidFill>
            <a:srgbClr val="FDF3E7"/>
          </a:solidFill>
          <a:ln w="9525">
            <a:solidFill>
              <a:srgbClr val="EDD4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1508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超絶忙しい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6334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ラポール3段階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06040" cy="1783080"/>
          </a:xfrm>
          <a:prstGeom prst="rect">
            <a:avLst/>
          </a:prstGeom>
          <a:solidFill>
            <a:srgbClr val="FDEAEA"/>
          </a:solidFill>
          <a:ln w="9525">
            <a:solidFill>
              <a:srgbClr val="C0404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66928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まだ浅い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7490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表面的なやり取りのみ。受講生が本音を話していない状態。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606040" cy="1783080"/>
          </a:xfrm>
          <a:prstGeom prst="rect">
            <a:avLst/>
          </a:prstGeom>
          <a:solidFill>
            <a:srgbClr val="FDF3E7"/>
          </a:solidFill>
          <a:ln w="9525">
            <a:solidFill>
              <a:srgbClr val="C876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355848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355848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築けてきている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55848" y="37490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少し打ち解けてきた。ただし深い自己開示にはまだ至っていない。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3017520"/>
            <a:ext cx="2606040" cy="1783080"/>
          </a:xfrm>
          <a:prstGeom prst="rect">
            <a:avLst/>
          </a:prstGeom>
          <a:solidFill>
            <a:srgbClr val="E6F4EC"/>
          </a:solidFill>
          <a:ln w="9525">
            <a:solidFill>
              <a:srgbClr val="3A7D5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144768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144768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築けている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144768" y="37490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受講生が本音や不安を自然に話せる。ここで初めて深掘りが機能する。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60604"/>
            <a:ext cx="109728" cy="109728"/>
          </a:xfrm>
          <a:prstGeom prst="ellipse">
            <a:avLst/>
          </a:prstGeom>
          <a:solidFill>
            <a:srgbClr val="6B4E9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これまでの試作・施策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905256"/>
            <a:ext cx="658368" cy="256032"/>
          </a:xfrm>
          <a:prstGeom prst="rect">
            <a:avLst/>
          </a:prstGeom>
          <a:solidFill>
            <a:srgbClr val="E6F4EC"/>
          </a:solidFill>
          <a:ln w="6350">
            <a:solidFill>
              <a:srgbClr val="3A7D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9052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7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777240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〜8月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993392" y="795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12タイプ分類の整理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993392" y="103327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タイプ名・特徴・典型パターンを言語化。メンターの共通言語ができた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35024"/>
            <a:ext cx="8229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463040"/>
            <a:ext cx="658368" cy="256032"/>
          </a:xfrm>
          <a:prstGeom prst="rect">
            <a:avLst/>
          </a:prstGeom>
          <a:solidFill>
            <a:srgbClr val="E6F4EC"/>
          </a:solidFill>
          <a:ln w="6350">
            <a:solidFill>
              <a:srgbClr val="3A7D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14630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7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13350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〜8月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993392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4背景軸の定義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993392" y="159105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年上・育児中・メンタル不安・超絶忙しいの4軸を定義。タイプ×背景の見立てへ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892808"/>
            <a:ext cx="8229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2020824"/>
            <a:ext cx="658368" cy="256032"/>
          </a:xfrm>
          <a:prstGeom prst="rect">
            <a:avLst/>
          </a:prstGeom>
          <a:solidFill>
            <a:srgbClr val="E6F4EC"/>
          </a:solidFill>
          <a:ln w="6350">
            <a:solidFill>
              <a:srgbClr val="3A7D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20208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7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189280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〜8月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993392" y="1911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ラポール3段階の定義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993392" y="214884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まだ浅い→築けてきている→築けているの指標。メンターが自分の現在地を認識できる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450592"/>
            <a:ext cx="8229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2578608"/>
            <a:ext cx="658368" cy="256032"/>
          </a:xfrm>
          <a:prstGeom prst="rect">
            <a:avLst/>
          </a:prstGeom>
          <a:solidFill>
            <a:srgbClr val="E6F4EC"/>
          </a:solidFill>
          <a:ln w="6350">
            <a:solidFill>
              <a:srgbClr val="3A7D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25786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7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24505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93392" y="2468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引き出し集 Excel（15シート）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993392" y="270662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タイプ別の特徴・アプローチ・注意点を15シートで整備。引き出しの一覧化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008376"/>
            <a:ext cx="8229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" y="3136392"/>
            <a:ext cx="658368" cy="256032"/>
          </a:xfrm>
          <a:prstGeom prst="rect">
            <a:avLst/>
          </a:prstGeom>
          <a:solidFill>
            <a:srgbClr val="E6F4EC"/>
          </a:solidFill>
          <a:ln w="6350">
            <a:solidFill>
              <a:srgbClr val="3A7D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" y="31363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7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300837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993392" y="3026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8/25 ロープレセッション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993392" y="32644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「先走り」「滞在時間の短さ」が主なボトルネックとして可視化された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566160"/>
            <a:ext cx="8229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0352" y="3694176"/>
            <a:ext cx="658368" cy="256032"/>
          </a:xfrm>
          <a:prstGeom prst="rect">
            <a:avLst/>
          </a:prstGeom>
          <a:solidFill>
            <a:srgbClr val="E6F4EC"/>
          </a:solidFill>
          <a:ln w="6350">
            <a:solidFill>
              <a:srgbClr val="3A7D5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0352" y="36941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7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261872" y="3566160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993392" y="3584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メンター育成まとめ資料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993392" y="382219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現状・課題・これからをHTMLドキュメントに整理。全体方針の可視化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123944"/>
            <a:ext cx="8229600" cy="512064"/>
          </a:xfrm>
          <a:prstGeom prst="rect">
            <a:avLst/>
          </a:prstGeom>
          <a:solidFill>
            <a:srgbClr val="EBF4FA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0352" y="4251960"/>
            <a:ext cx="658368" cy="256032"/>
          </a:xfrm>
          <a:prstGeom prst="rect">
            <a:avLst/>
          </a:prstGeom>
          <a:solidFill>
            <a:srgbClr val="EBF4FA"/>
          </a:solidFill>
          <a:ln w="6350">
            <a:solidFill>
              <a:srgbClr val="2D6A8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0352" y="42519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261872" y="41239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9月〜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93392" y="4142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ラポール引き出し集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1993392" y="437997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4タイプページ作成済み。各ページにYouTubeリンクテーブルを設置。残り8タイプ追加予定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681728"/>
            <a:ext cx="8229600" cy="512064"/>
          </a:xfrm>
          <a:prstGeom prst="rect">
            <a:avLst/>
          </a:prstGeom>
          <a:solidFill>
            <a:srgbClr val="FDF3E7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30352" y="4809744"/>
            <a:ext cx="658368" cy="256032"/>
          </a:xfrm>
          <a:prstGeom prst="rect">
            <a:avLst/>
          </a:prstGeom>
          <a:solidFill>
            <a:srgbClr val="FDF3E7"/>
          </a:solidFill>
          <a:ln w="6350">
            <a:solidFill>
              <a:srgbClr val="C8762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30352" y="48097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準備中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1261872" y="468172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9/4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993392" y="4700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9/4 カンファレンス準備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1993392" y="493776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Part1（振り返り）+ Part2（6ヶ月ロードマップ理解＋実ケース分析）の2部構成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560320" cy="2560320"/>
          </a:xfrm>
          <a:prstGeom prst="ellipse">
            <a:avLst/>
          </a:prstGeom>
          <a:solidFill>
            <a:srgbClr val="C8762A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9/4 カンファレンス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"See Deeper"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一歩深く見るメンタリング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3977640" cy="2377440"/>
          </a:xfrm>
          <a:prstGeom prst="rect">
            <a:avLst/>
          </a:prstGeom>
          <a:solidFill>
            <a:srgbClr val="243B52"/>
          </a:solidFill>
          <a:ln w="9525">
            <a:solidFill>
              <a:srgbClr val="2D6A8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40280"/>
            <a:ext cx="3977640" cy="384048"/>
          </a:xfrm>
          <a:prstGeom prst="rect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2402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自分のパターンに気づく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157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「自分はどこで先走っているか」を言語化できる状態に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3977640" cy="2377440"/>
          </a:xfrm>
          <a:prstGeom prst="rect">
            <a:avLst/>
          </a:prstGeom>
          <a:solidFill>
            <a:srgbClr val="243B52"/>
          </a:solidFill>
          <a:ln w="9525">
            <a:solidFill>
              <a:srgbClr val="3A7D7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240280"/>
            <a:ext cx="3977640" cy="384048"/>
          </a:xfrm>
          <a:prstGeom prst="rect">
            <a:avLst/>
          </a:prstGeom>
          <a:solidFill>
            <a:srgbClr val="3A7D70"/>
          </a:solidFill>
          <a:ln w="12700">
            <a:solidFill>
              <a:srgbClr val="3A7D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2402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なぜラポールが必要かを理解する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7157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6ヶ月の全体像を見た上で、1ヶ月目の設計を考えられる状態に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243B52"/>
          </a:solidFill>
          <a:ln w="9525">
            <a:solidFill>
              <a:srgbClr val="243B5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" y="46908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事前準備：担当受講生1名をピックアップ→面談動画と現状を振り返っておく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60604"/>
            <a:ext cx="109728" cy="109728"/>
          </a:xfrm>
          <a:prstGeom prst="ellipse">
            <a:avLst/>
          </a:prstGeom>
          <a:solidFill>
            <a:srgbClr val="2D6A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 ——  自分のパターンに気づく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606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822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97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自分のメンタリングの癖・パターンへの気づきを得る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777240"/>
            <a:ext cx="2606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55848" y="822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1097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「自分はどこで先走っているか」「どこで滞在できているか」を言語化できる状態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777240"/>
            <a:ext cx="2606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44768" y="822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メンターへの意識づけ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144768" y="1097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「うまくできた」の評価ではなく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「何が起きていたか」を見る姿勢で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901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やること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347472" cy="347472"/>
          </a:xfrm>
          <a:prstGeom prst="ellipse">
            <a:avLst/>
          </a:prstGeom>
          <a:solidFill>
            <a:srgbClr val="2D6A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2240280"/>
            <a:ext cx="7772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24128" y="224028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ピックアップした受講生の動画を振り返る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347472" cy="347472"/>
          </a:xfrm>
          <a:prstGeom prst="ellipse">
            <a:avLst/>
          </a:prstGeom>
          <a:solidFill>
            <a:srgbClr val="2D6A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2880360"/>
            <a:ext cx="7772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24128" y="288036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「受け止め切れたか」「先走った場面」を特定する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584448"/>
            <a:ext cx="347472" cy="347472"/>
          </a:xfrm>
          <a:prstGeom prst="ellipse">
            <a:avLst/>
          </a:prstGeom>
          <a:solidFill>
            <a:srgbClr val="2D6A8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3520440"/>
            <a:ext cx="7772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24128" y="352044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メンター同士でシェアして気づきを広げる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EBF4FA"/>
          </a:solidFill>
          <a:ln w="9525">
            <a:solidFill>
              <a:srgbClr val="2D6A8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94360" y="423367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生役を経験することで「テンポが速いと威圧感がある」「受け止めてもらえるともっと話したくなる」を身体感覚として理解できる。普段メンター側にいると「ちゃんと聞いているつもり」になりやすい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60604"/>
            <a:ext cx="109728" cy="109728"/>
          </a:xfrm>
          <a:prstGeom prst="ellipse">
            <a:avLst/>
          </a:prstGeom>
          <a:solidFill>
            <a:srgbClr val="3A7D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 ——  なぜラポールが必要かを理解する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77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822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789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6ヶ月の全体像を見た上で、1ヶ月目のラポールがなぜ重要かを構造として理解する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3977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73168" y="822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773168" y="10789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「1ヶ月目5回をどう設計するか」を自分の担当受講生で考えられる状態に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783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やること（フロー）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29184" cy="329184"/>
          </a:xfrm>
          <a:prstGeom prst="ellipse">
            <a:avLst/>
          </a:prstGeom>
          <a:solidFill>
            <a:srgbClr val="3A7D7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" y="2148840"/>
            <a:ext cx="7790688" cy="502920"/>
          </a:xfrm>
          <a:prstGeom prst="rect">
            <a:avLst/>
          </a:prstGeom>
          <a:solidFill>
            <a:srgbClr val="E6F4F1"/>
          </a:solidFill>
          <a:ln w="9525">
            <a:solidFill>
              <a:srgbClr val="3A7D7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05840" y="21671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6ヶ月ロードマップを説明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40487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（ユーザーから資料で共有）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16352"/>
            <a:ext cx="329184" cy="329184"/>
          </a:xfrm>
          <a:prstGeom prst="ellipse">
            <a:avLst/>
          </a:prstGeom>
          <a:solidFill>
            <a:srgbClr val="3A7D7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" y="2724912"/>
            <a:ext cx="7790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5840" y="27432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受講生が1ヶ月目を終えた今の状態を考える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98094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担当受講生の現状を整理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392424"/>
            <a:ext cx="329184" cy="329184"/>
          </a:xfrm>
          <a:prstGeom prst="ellipse">
            <a:avLst/>
          </a:prstGeom>
          <a:solidFill>
            <a:srgbClr val="3A7D7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6112" y="3300984"/>
            <a:ext cx="7790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05840" y="33192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動画2〜3本を見て「もう一歩深く見ると何が見えるか」を分析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55701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ワークシートに記入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968496"/>
            <a:ext cx="329184" cy="329184"/>
          </a:xfrm>
          <a:prstGeom prst="ellipse">
            <a:avLst/>
          </a:prstGeom>
          <a:solidFill>
            <a:srgbClr val="3A7D7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6112" y="3877056"/>
            <a:ext cx="7790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05840" y="389534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自分への問いを言語化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413308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次の面談でどう変えるか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507992"/>
            <a:ext cx="8229600" cy="457200"/>
          </a:xfrm>
          <a:prstGeom prst="rect">
            <a:avLst/>
          </a:prstGeom>
          <a:solidFill>
            <a:srgbClr val="E6F4F1"/>
          </a:solidFill>
          <a:ln w="9525">
            <a:solidFill>
              <a:srgbClr val="3A7D7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94360" y="453542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重要な前提：受講生は1ヶ月終了済み・6ヶ月は未終了。ユーザーが6ヶ月の全体像を見せることで「なぜ今ラポールなのか」が腑に落ちる。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3A7D7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274320"/>
            <a:ext cx="1828800" cy="1828800"/>
          </a:xfrm>
          <a:prstGeom prst="ellipse">
            <a:avLst/>
          </a:prstGeom>
          <a:solidFill>
            <a:srgbClr val="C8762A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今後やること &amp; 育成の根っこ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solidFill>
            <a:srgbClr val="243B52"/>
          </a:solidFill>
          <a:ln w="9525">
            <a:solidFill>
              <a:srgbClr val="243B5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813816"/>
            <a:ext cx="237744" cy="237744"/>
          </a:xfrm>
          <a:prstGeom prst="ellipse">
            <a:avLst/>
          </a:prstGeom>
          <a:solidFill>
            <a:srgbClr val="6B4E9B">
              <a:alpha val="7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749808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引き出し集の整備（残り8タイプ + YouTube動画リンク）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161288"/>
            <a:ext cx="8229600" cy="365760"/>
          </a:xfrm>
          <a:prstGeom prst="rect">
            <a:avLst/>
          </a:prstGeom>
          <a:solidFill>
            <a:srgbClr val="243B52"/>
          </a:solidFill>
          <a:ln w="9525">
            <a:solidFill>
              <a:srgbClr val="243B5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225296"/>
            <a:ext cx="237744" cy="237744"/>
          </a:xfrm>
          <a:prstGeom prst="ellipse">
            <a:avLst/>
          </a:prstGeom>
          <a:solidFill>
            <a:srgbClr val="3A7D70">
              <a:alpha val="7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161288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Part2 説明資料（6ヶ月ロードマップ → 1ヶ月目設計）スライドの作成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572768"/>
            <a:ext cx="8229600" cy="365760"/>
          </a:xfrm>
          <a:prstGeom prst="rect">
            <a:avLst/>
          </a:prstGeom>
          <a:solidFill>
            <a:srgbClr val="243B52"/>
          </a:solidFill>
          <a:ln w="9525">
            <a:solidFill>
              <a:srgbClr val="243B5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" y="1636776"/>
            <a:ext cx="237744" cy="237744"/>
          </a:xfrm>
          <a:prstGeom prst="ellipse">
            <a:avLst/>
          </a:prstGeom>
          <a:solidFill>
            <a:srgbClr val="C8762A">
              <a:alpha val="70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1572768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Part2 ワークシートをフローに合わせて最終調整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1984248"/>
            <a:ext cx="8229600" cy="365760"/>
          </a:xfrm>
          <a:prstGeom prst="rect">
            <a:avLst/>
          </a:prstGeom>
          <a:solidFill>
            <a:srgbClr val="243B52"/>
          </a:solidFill>
          <a:ln w="9525">
            <a:solidFill>
              <a:srgbClr val="243B5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048256"/>
            <a:ext cx="237744" cy="237744"/>
          </a:xfrm>
          <a:prstGeom prst="ellipse">
            <a:avLst/>
          </a:prstGeom>
          <a:solidFill>
            <a:srgbClr val="5B9FC2">
              <a:alpha val="7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1984248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カンファレンス用 動画の抜粋選定（各タイプ2〜3本）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395728"/>
            <a:ext cx="8229600" cy="365760"/>
          </a:xfrm>
          <a:prstGeom prst="rect">
            <a:avLst/>
          </a:prstGeom>
          <a:solidFill>
            <a:srgbClr val="243B52"/>
          </a:solidFill>
          <a:ln w="9525">
            <a:solidFill>
              <a:srgbClr val="243B5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2459736"/>
            <a:ext cx="237744" cy="237744"/>
          </a:xfrm>
          <a:prstGeom prst="ellipse">
            <a:avLst/>
          </a:prstGeom>
          <a:solidFill>
            <a:srgbClr val="6B4E9B">
              <a:alpha val="70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2395728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9月後半 勉強会の設計（マイロードマップ × ラポール活用）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944368"/>
            <a:ext cx="8229600" cy="1051560"/>
          </a:xfrm>
          <a:prstGeom prst="rect">
            <a:avLst/>
          </a:prstGeom>
          <a:solidFill>
            <a:srgbClr val="243B52"/>
          </a:solidFill>
          <a:ln w="9525">
            <a:solidFill>
              <a:srgbClr val="2D6A8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44368"/>
            <a:ext cx="54864" cy="1051560"/>
          </a:xfrm>
          <a:prstGeom prst="rect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017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正しい答えを覚えるより、正しく"気づける目"を育てる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4564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メンター役＝実践力　受講生役＝相手視点　オブザーバー役＝観察力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この3つが積み上がったとき、指標は答えではなく体験を体系化するものになる。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体験なしに指標を渡すとチェックリスト思考になる。体験が積み上がってから出すことで、言葉と実感が結びつく。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2026-09-03T08:39:47Z</dcterms:created>
  <dcterms:modified xsi:type="dcterms:W3CDTF">2026-09-03T08:39:47Z</dcterms:modified>
</cp:coreProperties>
</file>